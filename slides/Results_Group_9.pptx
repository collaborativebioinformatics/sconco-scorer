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6736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0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DISCRIMINATION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11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Discrimination holds across tumour purity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9  ·  scOnco-scorer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2007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/ 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10911535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3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Purity-resolved benchmark of single-cell CNV callers. SEQC2 HCC1395 / HCC1395BL, GRCh38. Expression arm (10x): inferCNV, CopyKAT, SCEVAN; allele arm (C1): Numbat.</a:t>
            </a:r>
            <a:endParaRPr lang="en-US" sz="13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expression callers reach AUROC ≥ 0.990 at every tumour fraction.</a:t>
            </a:r>
            <a:endParaRPr lang="en-US" sz="13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inferCNV is most stable, ≥ 0.997 across 1% to 80% (mean 0.998); band = CopyKAT replicate range.</a:t>
            </a:r>
            <a:endParaRPr lang="en-US" sz="1350" dirty="0"/>
          </a:p>
        </p:txBody>
      </p:sp>
      <p:pic>
        <p:nvPicPr>
          <p:cNvPr id="7" name="Image 0" descr="figs/fig1_au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643" y="2670048"/>
            <a:ext cx="7634409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0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DNA TRUTH 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11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benchmark rests on validated DNA truth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9  ·  scOnco-scorer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2007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/ 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10911535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Arm-level truth from matched WGS: 22 gain, 10 mixed, 5 neutral of 37 unmasked arms.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orthogonal callers concur: consensus and ASCAT agree on 36 of 37 arms (97.3%).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Copy-number estimates track tightly between callers; only 1p differs (gain vs mixed).</a:t>
            </a:r>
            <a:endParaRPr lang="en-US" sz="1850" dirty="0"/>
          </a:p>
        </p:txBody>
      </p:sp>
      <p:pic>
        <p:nvPicPr>
          <p:cNvPr id="7" name="Image 0" descr="figs/figT_tr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134" y="2670048"/>
            <a:ext cx="10047427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0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LOW-PURITY DETECTABILITY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11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Detectability collapses at 1%, recovers by 5%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9  ·  scOnco-scorer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2007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/ 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10911535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inferCNV holds precision-recall best at 1% purity (AUPRC 0.816).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SCEVAN falls hardest at 1% (0.482); CopyKAT intermediate (0.665).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recover to ≥ 0.90 by 5% and ≥ 0.99 by 40%; dashed grey = AP chance.</a:t>
            </a:r>
            <a:endParaRPr lang="en-US" sz="1850" dirty="0"/>
          </a:p>
        </p:txBody>
      </p:sp>
      <p:pic>
        <p:nvPicPr>
          <p:cNvPr id="7" name="Image 0" descr="figs/fig2_aup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643" y="2670048"/>
            <a:ext cx="7634409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0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OPERATING POINT · 95% CI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11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metrics and purity recovery, with CIs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9  ·  scOnco-scorer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2007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/ 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10911535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fixed threshold, sensitivity and precision are low at 1% but jump to ≥ 0.94 by 5% (F1 0.03 to 0.97).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Specificity stays ≥ 0.93 throughout; ribbons are cluster-bootstrap 95% CIs.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Called aneuploid fraction tracks nominal tumour fraction along the identity line.</a:t>
            </a:r>
            <a:endParaRPr lang="en-US" sz="1850" dirty="0"/>
          </a:p>
        </p:txBody>
      </p:sp>
      <p:pic>
        <p:nvPicPr>
          <p:cNvPr id="7" name="Image 0" descr="figs/figOP_op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98" y="2670048"/>
            <a:ext cx="10405499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0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PER-CELL SEPARATION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11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Malignant and normal cells separate by burden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9  ·  scOnco-scorer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2007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/ 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10911535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Tumour-cell CNV burden sits well above normal at every purity, even at 1% (medians 0.071 vs 0.028).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separation is why per-cell AUROC stays near 1.0 across the purity range.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violins pool 10 seeded replicates per fraction; median marked.</a:t>
            </a:r>
            <a:endParaRPr lang="en-US" sz="1850" dirty="0"/>
          </a:p>
        </p:txBody>
      </p:sp>
      <p:pic>
        <p:nvPicPr>
          <p:cNvPr id="7" name="Image 0" descr="figs/figBUR_burd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178" y="2670048"/>
            <a:ext cx="8771339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0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CALIBRATION QUALITY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11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 are well calibrated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9  ·  scOnco-scorer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2007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/ 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10911535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CopyKAT is the best-calibrated caller: pooled ECE 0.009, Brier 0.022.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reliability tracks the diagonal across the probability range.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Per-fraction ECE stays ≤ 0.029 to 40%, rising to 0.059 at 80%.</a:t>
            </a:r>
            <a:endParaRPr lang="en-US" sz="1850" dirty="0"/>
          </a:p>
        </p:txBody>
      </p:sp>
      <p:pic>
        <p:nvPicPr>
          <p:cNvPr id="7" name="Image 0" descr="figs/fig3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651" y="2670048"/>
            <a:ext cx="8488392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0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CALIBRATOR SELECTION · NESTED CV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11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is chosen by group-aware nested CV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9  ·  scOnco-scorer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2007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/ 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10911535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 scaling wins the inner loop in every outer fold; folds are grouped by source cell, so no cell leaks across folds.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and raw AUPRC are nearly identical, so calibration preserves ranking.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thresholds are set on training folds to target PPV 0.95 and NPV 0.98.</a:t>
            </a:r>
            <a:endParaRPr lang="en-US" sz="1850" dirty="0"/>
          </a:p>
        </p:txBody>
      </p:sp>
      <p:pic>
        <p:nvPicPr>
          <p:cNvPr id="7" name="Image 0" descr="figs/figCAL_cali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935" y="2670048"/>
            <a:ext cx="8795825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0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CALIBRATION DRIFT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11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drift grows with purity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9  ·  scOnco-scorer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2007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/ 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10911535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uncalibrated score is overconfident, worst at 80% (ECE 0.54, Brier 0.45).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corrects it at every fraction; the gain is largest at 80% (Brier down 0.40).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calibration, ECE and Brier stay low across 1% to 80%.</a:t>
            </a:r>
            <a:endParaRPr lang="en-US" sz="1850" dirty="0"/>
          </a:p>
        </p:txBody>
      </p:sp>
      <p:pic>
        <p:nvPicPr>
          <p:cNvPr id="7" name="Image 0" descr="figs/fig4_dr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651" y="2670048"/>
            <a:ext cx="8488392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0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DECISION QUALITY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11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decisions are stable across purity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9  ·  scOnco-scorer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2007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 / 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10911535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Determinate sensitivity holds at ~0.95 and specificity at ~0.98 across 1% to 80%.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PPV rises 0.42 to 0.99 and NPV falls 0.998 to 0.81 with prevalence; a base-rate effect, not drift.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cell receives a determinate call; the indeterminate fraction is zero.</a:t>
            </a:r>
            <a:endParaRPr lang="en-US" sz="1850" dirty="0"/>
          </a:p>
        </p:txBody>
      </p:sp>
      <p:pic>
        <p:nvPicPr>
          <p:cNvPr id="7" name="Image 0" descr="figs/figDEC_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935" y="2670048"/>
            <a:ext cx="8795825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0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GENOMIC FIDELITY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11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Gain-arm direction recovery by caller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9  ·  scOnco-scorer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2007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10911535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CopyKAT recovers gain-arm direction best: 77.3% at 80% (17 of 22 gain arms).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inferCNV is flat at ~68.2% across all fractions; SCEVAN trails at 41% to 55%.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is not evaluable: SEQC2 truth has no unmasked loss-dominant arms (22 gain, 0 loss).</a:t>
            </a:r>
            <a:endParaRPr lang="en-US" sz="1850" dirty="0"/>
          </a:p>
        </p:txBody>
      </p:sp>
      <p:pic>
        <p:nvPicPr>
          <p:cNvPr id="7" name="Image 0" descr="figs/fig5_armr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643" y="2670048"/>
            <a:ext cx="7634409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0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ALLELE ARM · C1 / NUMBAT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11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Haplotype-aware LOH concordance on C1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9  ·  scOnco-scorer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2007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10911535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Per-cell malignancy is perfectly resolved on C1: AUROC 1.00 (expression, allele, joint).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Clonal LOH concordance is complete: 21 of 21 truth-LOH arms, including 17q (100% sensitivity).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permissive LOH-or-del endpoint over-calls neutral arms (specificity 25%).</a:t>
            </a:r>
            <a:endParaRPr lang="en-US" sz="1850" dirty="0"/>
          </a:p>
        </p:txBody>
      </p:sp>
      <p:pic>
        <p:nvPicPr>
          <p:cNvPr id="7" name="Image 0" descr="figs/fig6_lo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935" y="2670048"/>
            <a:ext cx="8795825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0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ALLELE ARM · PER-ARM CONCORDANCE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11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Numbat recovers LOH genome-wide, including 17q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9  ·  scOnco-scorer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2007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/ 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10911535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21 truth-LOH arms are recovered, including 17q; the few over-calls fall on non-LOH arms.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endpoint matters: LOH-or-hemizygous-deletion reaches 100% sensitivity, copy-neutral-LOH-only 14.3%.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HCC1395 loses heterozygosity largely through deletion, which the allele model captures.</a:t>
            </a:r>
            <a:endParaRPr lang="en-US" sz="1850" dirty="0"/>
          </a:p>
        </p:txBody>
      </p:sp>
      <p:pic>
        <p:nvPicPr>
          <p:cNvPr id="7" name="Image 0" descr="figs/figARM_ar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98" y="2670048"/>
            <a:ext cx="10405499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0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CONTROLS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11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controls all behave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9  ·  scOnco-scorer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2007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/ 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10911535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Label-shuffle AUROC collapses to chance (~0.50) at every fraction.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B-vs-B false-aneuploid 0.033; held-out reference-B misclassification 0.037; barcode match 1.00.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are stable to cohort: median within-cell probability range 0.003, 1.5% cross a boundary.</a:t>
            </a:r>
            <a:endParaRPr lang="en-US" sz="1850" dirty="0"/>
          </a:p>
        </p:txBody>
      </p:sp>
      <p:pic>
        <p:nvPicPr>
          <p:cNvPr id="7" name="Image 0" descr="figs/fig7_contr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09" y="2670048"/>
            <a:ext cx="10252477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0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· CONTEXT SENSITIVITY · 95% CI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11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Per-cell scores are robust to cohort composition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9  ·  scOnco-scorer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2007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/ 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10911535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within-cell probability range is 0.003 (95% CI 0.003 to 0.004); burden range 0.006.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1.5% of cells cross a decision boundary across cohorts (95% CI 1.1% to 1.9%).</a:t>
            </a:r>
            <a:endParaRPr lang="en-US" sz="18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Tumour cells are the most stable (0.001); normal cells vary slightly more (0.012) but stay negligible.</a:t>
            </a:r>
            <a:endParaRPr lang="en-US" sz="1850" dirty="0"/>
          </a:p>
        </p:txBody>
      </p:sp>
      <p:pic>
        <p:nvPicPr>
          <p:cNvPr id="7" name="Image 0" descr="figs/figCTX_con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057" y="2670048"/>
            <a:ext cx="9447581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0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· SYNTHESIS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11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Synthesis: best caller per axis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9  ·  scOnco-scorer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2007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/  15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08792" cy="457200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6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6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6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Discrimination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AUROC, per-cell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inferCNV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0.997 all fractions (mean 0.998)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Low-purity detectability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AUPRC at 1%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inferCNV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0.816  (≥ 0.90 by 5%)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Calibration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ECE / Brier, pooled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CopyKAT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0.009 / 0.022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quality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Determinate sens / spec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CopyKAT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~0.95 / ~0.98 all fractions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Genomic fidelity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Gain-arm direction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CopyKAT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77.3% at 80%  (17 of 22)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Allele / LOH (C1)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Clonal LOH concordance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Numbat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 of 21 arms, 100% sensitivity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Per-cell (C1)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AUROC, expr / allele / joint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Numbat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DNA truth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Consensus vs ASCAT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callers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 of 37 arms agree (97.3%)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Controls + context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Shuffle / B-vs-B / stability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pass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 / 0.033 / range 0.003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05332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progress: physical-mixture demultiplexing (experimental 5% and 10% mixtures) and the Nextflow pipeline.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1143</Words>
  <Application>Microsoft Macintosh PowerPoint</Application>
  <PresentationFormat>Widescreen</PresentationFormat>
  <Paragraphs>158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ILAHA MUSAYEVA</cp:lastModifiedBy>
  <cp:revision>1</cp:revision>
  <dcterms:created xsi:type="dcterms:W3CDTF">2026-08-28T15:19:22Z</dcterms:created>
  <dcterms:modified xsi:type="dcterms:W3CDTF">2026-08-28T15:30:24Z</dcterms:modified>
</cp:coreProperties>
</file>